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357B-5A35-42E2-A85C-AFBD407384C9}" v="2" dt="2026-09-17T21:52:41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pewell Novela" userId="ba4420d0595b93e6" providerId="LiveId" clId="{2C179679-5BF1-44D5-8556-97A5030D10F9}"/>
    <pc:docChg chg="undo custSel addSld delSld modSld">
      <pc:chgData name="Hopewell Novela" userId="ba4420d0595b93e6" providerId="LiveId" clId="{2C179679-5BF1-44D5-8556-97A5030D10F9}" dt="2026-09-17T22:12:51.021" v="386" actId="20577"/>
      <pc:docMkLst>
        <pc:docMk/>
      </pc:docMkLst>
      <pc:sldChg chg="modSp mod">
        <pc:chgData name="Hopewell Novela" userId="ba4420d0595b93e6" providerId="LiveId" clId="{2C179679-5BF1-44D5-8556-97A5030D10F9}" dt="2026-09-17T22:12:51.021" v="386" actId="20577"/>
        <pc:sldMkLst>
          <pc:docMk/>
          <pc:sldMk cId="0" sldId="256"/>
        </pc:sldMkLst>
        <pc:spChg chg="mod">
          <ac:chgData name="Hopewell Novela" userId="ba4420d0595b93e6" providerId="LiveId" clId="{2C179679-5BF1-44D5-8556-97A5030D10F9}" dt="2026-09-17T22:12:51.021" v="386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Hopewell Novela" userId="ba4420d0595b93e6" providerId="LiveId" clId="{2C179679-5BF1-44D5-8556-97A5030D10F9}" dt="2026-09-17T22:10:24.427" v="344" actId="20577"/>
        <pc:sldMkLst>
          <pc:docMk/>
          <pc:sldMk cId="0" sldId="258"/>
        </pc:sldMkLst>
        <pc:spChg chg="mod">
          <ac:chgData name="Hopewell Novela" userId="ba4420d0595b93e6" providerId="LiveId" clId="{2C179679-5BF1-44D5-8556-97A5030D10F9}" dt="2026-09-17T22:10:24.427" v="344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Hopewell Novela" userId="ba4420d0595b93e6" providerId="LiveId" clId="{2C179679-5BF1-44D5-8556-97A5030D10F9}" dt="2026-09-17T22:10:38.704" v="358" actId="20577"/>
        <pc:sldMkLst>
          <pc:docMk/>
          <pc:sldMk cId="0" sldId="259"/>
        </pc:sldMkLst>
        <pc:spChg chg="mod">
          <ac:chgData name="Hopewell Novela" userId="ba4420d0595b93e6" providerId="LiveId" clId="{2C179679-5BF1-44D5-8556-97A5030D10F9}" dt="2026-09-17T22:10:38.704" v="358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Hopewell Novela" userId="ba4420d0595b93e6" providerId="LiveId" clId="{2C179679-5BF1-44D5-8556-97A5030D10F9}" dt="2026-09-17T22:10:56.417" v="372" actId="20577"/>
        <pc:sldMkLst>
          <pc:docMk/>
          <pc:sldMk cId="0" sldId="261"/>
        </pc:sldMkLst>
        <pc:spChg chg="mod">
          <ac:chgData name="Hopewell Novela" userId="ba4420d0595b93e6" providerId="LiveId" clId="{2C179679-5BF1-44D5-8556-97A5030D10F9}" dt="2026-09-17T20:44:35.546" v="54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Hopewell Novela" userId="ba4420d0595b93e6" providerId="LiveId" clId="{2C179679-5BF1-44D5-8556-97A5030D10F9}" dt="2026-09-17T22:10:56.417" v="372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Hopewell Novela" userId="ba4420d0595b93e6" providerId="LiveId" clId="{2C179679-5BF1-44D5-8556-97A5030D10F9}" dt="2026-09-17T20:45:02.147" v="69" actId="20577"/>
        <pc:sldMkLst>
          <pc:docMk/>
          <pc:sldMk cId="0" sldId="262"/>
        </pc:sldMkLst>
        <pc:spChg chg="mod">
          <ac:chgData name="Hopewell Novela" userId="ba4420d0595b93e6" providerId="LiveId" clId="{2C179679-5BF1-44D5-8556-97A5030D10F9}" dt="2026-09-17T20:45:02.147" v="69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Hopewell Novela" userId="ba4420d0595b93e6" providerId="LiveId" clId="{2C179679-5BF1-44D5-8556-97A5030D10F9}" dt="2026-09-17T22:11:14.536" v="374" actId="1076"/>
        <pc:sldMkLst>
          <pc:docMk/>
          <pc:sldMk cId="0" sldId="263"/>
        </pc:sldMkLst>
        <pc:spChg chg="mod">
          <ac:chgData name="Hopewell Novela" userId="ba4420d0595b93e6" providerId="LiveId" clId="{2C179679-5BF1-44D5-8556-97A5030D10F9}" dt="2026-09-17T22:11:14.536" v="374" actId="1076"/>
          <ac:spMkLst>
            <pc:docMk/>
            <pc:sldMk cId="0" sldId="263"/>
            <ac:spMk id="4" creationId="{00000000-0000-0000-0000-000000000000}"/>
          </ac:spMkLst>
        </pc:spChg>
      </pc:sldChg>
      <pc:sldChg chg="new del">
        <pc:chgData name="Hopewell Novela" userId="ba4420d0595b93e6" providerId="LiveId" clId="{2C179679-5BF1-44D5-8556-97A5030D10F9}" dt="2026-09-17T21:49:40.921" v="87" actId="680"/>
        <pc:sldMkLst>
          <pc:docMk/>
          <pc:sldMk cId="331725503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SMART CLINIC VACCINE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rPr dirty="0"/>
              <a:t>Protecting temperature-sensitive medical stock during power outages</a:t>
            </a:r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rPr dirty="0"/>
              <a:t>Mpumalanga Rural Healthcare • </a:t>
            </a:r>
            <a:r>
              <a:rPr lang="en-ZA" dirty="0"/>
              <a:t>ESP32</a:t>
            </a:r>
            <a:r>
              <a:rPr dirty="0"/>
              <a:t> + DHT22 + Edge Intelligence</a:t>
            </a:r>
            <a:endParaRPr lang="en-ZA" dirty="0"/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endParaRPr lang="en-ZA" dirty="0"/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rPr lang="en-ZA" i="1" dirty="0"/>
              <a:t>Did you know that the vaccine storage in clinics has to remain between 2’C and 8’C or the vaccines will be rendered useless?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Rural clinics experience power outages and unstable electricity.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Cold-storage temperature can rise unnoticed for hours.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Vaccines, insulin and blood supplies may become unsafe and have to be discarded.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Staff need an early warning — not a late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A low-cost smart cold-storage monitoring and protection system.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DHT22 measures temperature and humidity in real time.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lang="en-ZA" dirty="0"/>
              <a:t>ESP32</a:t>
            </a:r>
            <a:r>
              <a:rPr dirty="0"/>
              <a:t> predicts thermal drift and estimated time-to-critical temperature.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Alerts staff before the safe threshold is breached.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Relay automatically activates secondary cooling.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3D digital twin displays the cold unit's live safety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SENSE → DHT22 continuously measures conditions.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ANALYSE → </a:t>
            </a:r>
            <a:r>
              <a:rPr lang="en-ZA" dirty="0"/>
              <a:t>ESP32</a:t>
            </a:r>
            <a:r>
              <a:rPr dirty="0"/>
              <a:t> processes readings at the edge.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PREDICT → Thermal drift estimates time remaining before critical temperature.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ACT → Relay triggers backup cooling.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VISUALISE → Digital twin shows GREEN / YELLOW / RED safety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PRIMARY: Rural primary healthcare clinics in Mpumalanga.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Focus districts: Ehlanzeni and Gert Sibande.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SECONDARY: District hospitals, community health centres and mobile healthcare units.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EXPANSION: Rural healthcare facilities across South Africa.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Need: affordable monitoring that remains useful when grid electricity is unreliable.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52532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rPr dirty="0"/>
              <a:t>THE ASK — R</a:t>
            </a:r>
            <a:r>
              <a:rPr lang="en-ZA" dirty="0"/>
              <a:t>100</a:t>
            </a:r>
            <a:r>
              <a:rPr dirty="0"/>
              <a:t>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lang="en-ZA" dirty="0"/>
              <a:t>20</a:t>
            </a:r>
            <a:r>
              <a:rPr dirty="0"/>
              <a:t> prototype monitoring units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lang="en-ZA" dirty="0"/>
              <a:t>ESP32</a:t>
            </a:r>
            <a:r>
              <a:rPr dirty="0"/>
              <a:t>, DHT22, relay and supporting electronics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Backup-cooling prototype components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Telemetry and dashboard infrastructure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3D digital-twin development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Pilot testing and data collection at rural clinics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GOAL: Deploy → validate → improve → prepare for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12-MONTH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Prototype: </a:t>
            </a:r>
            <a:r>
              <a:rPr lang="en-ZA" dirty="0"/>
              <a:t>20</a:t>
            </a:r>
            <a:r>
              <a:rPr dirty="0"/>
              <a:t> units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Pilot: </a:t>
            </a:r>
            <a:r>
              <a:rPr lang="en-ZA" dirty="0"/>
              <a:t>10</a:t>
            </a:r>
            <a:r>
              <a:rPr dirty="0"/>
              <a:t>–</a:t>
            </a:r>
            <a:r>
              <a:rPr lang="en-ZA" dirty="0"/>
              <a:t>20</a:t>
            </a:r>
            <a:r>
              <a:rPr dirty="0"/>
              <a:t> clinics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Year-1 deployment target: 50 units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Illustrative hardware price: R3,500/unit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Potential hardware revenue at 50 units: R175,000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Monitoring subscription: R150/unit/month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Illustrative Year-1 subscription revenue: ±R90,000*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rPr dirty="0"/>
              <a:t>*Based on progressive deployment during the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rPr dirty="0"/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EARLY WARNING — Know when cold storage is drifting toward danger.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AUTOMATIC RESPONSE — Reduce dependence on manual intervention.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LESS WASTE — Help prevent avoidable loss of medical stock.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RURAL-FIRST — Designed around unreliable electricity and limited resources.</a:t>
            </a:r>
          </a:p>
          <a:p>
            <a:pPr>
              <a:spcAft>
                <a:spcPts val="1400"/>
              </a:spcAft>
              <a:defRPr sz="2000">
                <a:solidFill>
                  <a:srgbClr val="DCE4EB"/>
                </a:solidFill>
              </a:defRPr>
            </a:pPr>
            <a:r>
              <a:t>SCALABLE — The architecture can serve clinics across South Africa.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t>FROM POWER OUTAGE</a:t>
            </a:r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t>TO EARLY WARNING.</a:t>
            </a:r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endParaRPr/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t>DETECT.  PREDICT.  ACT.  PROTECT.</a:t>
            </a:r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endParaRPr/>
          </a:p>
          <a:p>
            <a:pPr algn="ctr">
              <a:spcAft>
                <a:spcPts val="1400"/>
              </a:spcAft>
              <a:defRPr sz="2400">
                <a:solidFill>
                  <a:srgbClr val="DCE4EB"/>
                </a:solidFill>
              </a:defRPr>
            </a:pPr>
            <a:r>
              <a:t>Smart technology for safer rural healthcare.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1A0"/>
                </a:solidFill>
              </a:defRPr>
            </a:pPr>
            <a:r>
              <a:t>SMART CLINIC VACCINE GUARDIAN  |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487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Hopewell Novela</cp:lastModifiedBy>
  <cp:revision>1</cp:revision>
  <dcterms:created xsi:type="dcterms:W3CDTF">2013-01-27T09:14:16Z</dcterms:created>
  <dcterms:modified xsi:type="dcterms:W3CDTF">2026-09-17T22:12:57Z</dcterms:modified>
  <cp:category/>
</cp:coreProperties>
</file>