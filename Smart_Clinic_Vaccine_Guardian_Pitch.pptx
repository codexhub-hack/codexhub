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4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19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577696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A"/>
                </a:solidFill>
              </a:defRPr>
            </a:pPr>
            <a:r>
              <a:rPr dirty="0"/>
              <a:t>SMART CLINIC VACCINE GUARDIAN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607040" cy="1928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2400">
                <a:solidFill>
                  <a:srgbClr val="DCE4EB"/>
                </a:solidFill>
              </a:defRPr>
            </a:pPr>
            <a:r>
              <a:rPr lang="en-ZA" dirty="0"/>
              <a:t>Turning Room Temperature Readings Into More Than Just Degrees and Celsius, Here’s HOW? </a:t>
            </a:r>
          </a:p>
          <a:p>
            <a:pPr algn="ctr">
              <a:spcAft>
                <a:spcPts val="1400"/>
              </a:spcAft>
              <a:defRPr sz="2400">
                <a:solidFill>
                  <a:srgbClr val="DCE4EB"/>
                </a:solidFill>
              </a:defRPr>
            </a:pPr>
            <a:r>
              <a:rPr dirty="0"/>
              <a:t>•</a:t>
            </a:r>
            <a:r>
              <a:rPr lang="en-ZA" dirty="0"/>
              <a:t> ESP-32</a:t>
            </a:r>
            <a:r>
              <a:rPr dirty="0"/>
              <a:t> </a:t>
            </a:r>
            <a:r>
              <a:rPr lang="en-ZA" dirty="0"/>
              <a:t>,</a:t>
            </a:r>
            <a:r>
              <a:rPr dirty="0"/>
              <a:t> DHT22 </a:t>
            </a:r>
            <a:r>
              <a:rPr lang="en-ZA" dirty="0"/>
              <a:t>,</a:t>
            </a:r>
            <a:r>
              <a:rPr dirty="0"/>
              <a:t> Edge Intelligence</a:t>
            </a:r>
            <a:r>
              <a:rPr lang="en-ZA" dirty="0"/>
              <a:t> + VAXGUARD 365 App</a:t>
            </a:r>
          </a:p>
          <a:p>
            <a:pPr algn="ctr">
              <a:spcAft>
                <a:spcPts val="1400"/>
              </a:spcAft>
              <a:defRPr sz="2400">
                <a:solidFill>
                  <a:srgbClr val="DCE4EB"/>
                </a:solidFill>
              </a:defRPr>
            </a:pPr>
            <a:r>
              <a:rPr lang="en-ZA" i="1" dirty="0"/>
              <a:t>We use </a:t>
            </a:r>
            <a:r>
              <a:rPr lang="en-ZA" i="1" u="sng" dirty="0"/>
              <a:t>4IR</a:t>
            </a:r>
            <a:r>
              <a:rPr lang="en-ZA" i="1" dirty="0"/>
              <a:t> tech to turn data into reliable, state of the art cold-rooms.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291A0"/>
                </a:solidFill>
              </a:defRPr>
            </a:pPr>
            <a:r>
              <a:t>SMART CLINIC VACCINE GUARDIAN  |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A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607040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dirty="0"/>
              <a:t>Rural clinics experience power outages and unstable electricity.</a:t>
            </a:r>
          </a:p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dirty="0"/>
              <a:t>Cold-storage temperature can rise unnoticed for hours</a:t>
            </a:r>
            <a:r>
              <a:rPr lang="en-ZA" dirty="0"/>
              <a:t>, that’s where we come in</a:t>
            </a:r>
            <a:r>
              <a:rPr dirty="0"/>
              <a:t>.</a:t>
            </a:r>
          </a:p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dirty="0"/>
              <a:t>Vaccines, insulin and blood supplies may become unsafe and have to be discarded.</a:t>
            </a:r>
            <a:r>
              <a:rPr lang="en-ZA" dirty="0"/>
              <a:t> </a:t>
            </a:r>
            <a:endParaRPr dirty="0"/>
          </a:p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lang="en-ZA" dirty="0"/>
              <a:t>Clinic </a:t>
            </a:r>
            <a:r>
              <a:rPr dirty="0"/>
              <a:t>Staff need an early warning — not a late discovery.</a:t>
            </a:r>
            <a:r>
              <a:rPr lang="en-ZA" dirty="0"/>
              <a:t> 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291A0"/>
                </a:solidFill>
              </a:defRPr>
            </a:pPr>
            <a:r>
              <a:t>SMART CLINIC VACCINE GUARDIAN  |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A"/>
                </a:solidFill>
              </a:defRPr>
            </a:pPr>
            <a: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607040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dirty="0"/>
              <a:t>A low-cost smart cold-storage monitoring and protection system.</a:t>
            </a:r>
          </a:p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lang="en-ZA" dirty="0"/>
              <a:t>The system</a:t>
            </a:r>
            <a:r>
              <a:rPr dirty="0"/>
              <a:t> predicts thermal drift and estimated time-to-critical temperature.</a:t>
            </a:r>
          </a:p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dirty="0"/>
              <a:t>Alerts staff before the safe threshold is breached.</a:t>
            </a:r>
          </a:p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dirty="0"/>
              <a:t>Relay automatically activates secondary cooling.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291A0"/>
                </a:solidFill>
              </a:defRPr>
            </a:pPr>
            <a:r>
              <a:t>SMART CLINIC VACCINE GUARDIAN  |  03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3583BBD-4AFA-0578-CE01-53956FBB03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3578633"/>
            <a:ext cx="4869180" cy="29146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607525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A"/>
                </a:solidFill>
              </a:defRPr>
            </a:pPr>
            <a:r>
              <a:rPr dirty="0"/>
              <a:t>HOW IT WORKS</a:t>
            </a:r>
            <a:r>
              <a:rPr lang="en-ZA" dirty="0"/>
              <a:t> AND WHY IT WORKS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96817" cy="2477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u="sng" dirty="0"/>
              <a:t>SENSE</a:t>
            </a:r>
            <a:r>
              <a:rPr dirty="0"/>
              <a:t> → DHT22 continuously measures conditions.</a:t>
            </a:r>
          </a:p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u="sng" dirty="0"/>
              <a:t>ANALYSE</a:t>
            </a:r>
            <a:r>
              <a:rPr dirty="0"/>
              <a:t> → </a:t>
            </a:r>
            <a:r>
              <a:rPr lang="en-ZA" dirty="0"/>
              <a:t>ESP32</a:t>
            </a:r>
            <a:r>
              <a:rPr dirty="0"/>
              <a:t> processes readings at</a:t>
            </a:r>
            <a:r>
              <a:rPr lang="en-ZA" dirty="0"/>
              <a:t> the edge</a:t>
            </a:r>
            <a:r>
              <a:rPr dirty="0"/>
              <a:t>.</a:t>
            </a:r>
          </a:p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u="sng" dirty="0"/>
              <a:t>PREDICT </a:t>
            </a:r>
            <a:r>
              <a:rPr dirty="0"/>
              <a:t>→ Thermal drift estimates time remaining before critical temperature.</a:t>
            </a:r>
          </a:p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u="sng" dirty="0"/>
              <a:t>ACT</a:t>
            </a:r>
            <a:r>
              <a:rPr dirty="0"/>
              <a:t> → Relay triggers backup cooling</a:t>
            </a:r>
            <a:r>
              <a:rPr lang="en-ZA" dirty="0"/>
              <a:t> in real time</a:t>
            </a:r>
            <a:r>
              <a:rPr dirty="0"/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291A0"/>
                </a:solidFill>
              </a:defRPr>
            </a:pPr>
            <a:r>
              <a:t>SMART CLINIC VACCINE GUARDIAN  |  04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2AE0EB-6C02-E935-E9B9-F4094AC85B06}"/>
              </a:ext>
            </a:extLst>
          </p:cNvPr>
          <p:cNvSpPr txBox="1"/>
          <p:nvPr/>
        </p:nvSpPr>
        <p:spPr>
          <a:xfrm>
            <a:off x="6854190" y="1417320"/>
            <a:ext cx="5067734" cy="38882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lang="en-GB" u="sng" dirty="0"/>
              <a:t>EARLY WARNING </a:t>
            </a:r>
            <a:r>
              <a:rPr lang="en-GB" dirty="0"/>
              <a:t>— Know when cold storage is drifting toward danger.</a:t>
            </a:r>
          </a:p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lang="en-GB" u="sng" dirty="0"/>
              <a:t>AUTOMATIC RESPONSE</a:t>
            </a:r>
            <a:r>
              <a:rPr lang="en-GB" dirty="0"/>
              <a:t> — Reduce dependence on manual intervention.</a:t>
            </a:r>
          </a:p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lang="en-GB" u="sng" dirty="0"/>
              <a:t>LESS WASTE</a:t>
            </a:r>
            <a:r>
              <a:rPr lang="en-GB" dirty="0"/>
              <a:t> — Help prevent avoidable loss of medical stock.</a:t>
            </a:r>
          </a:p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lang="en-GB" u="sng" dirty="0"/>
              <a:t>RURAL-FIRST</a:t>
            </a:r>
            <a:r>
              <a:rPr lang="en-GB" dirty="0"/>
              <a:t> — Designed around unreliable electricity and limited resources.</a:t>
            </a:r>
          </a:p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lang="en-GB" u="sng" dirty="0"/>
              <a:t>SCALABLE</a:t>
            </a:r>
            <a:r>
              <a:rPr lang="en-GB" dirty="0"/>
              <a:t> — The architecture can serve clinics across South Africa.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A"/>
                </a:solidFill>
              </a:defRPr>
            </a:pPr>
            <a:r>
              <a:t>TARGET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607040" cy="23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u="sng" dirty="0"/>
              <a:t>PRIMARY</a:t>
            </a:r>
            <a:r>
              <a:rPr dirty="0"/>
              <a:t>: Rural primary healthcare clinics in Mpumalanga.</a:t>
            </a:r>
          </a:p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u="sng" dirty="0"/>
              <a:t>F</a:t>
            </a:r>
            <a:r>
              <a:rPr lang="en-ZA" u="sng" dirty="0"/>
              <a:t>OCUS DISTRICTS</a:t>
            </a:r>
            <a:r>
              <a:rPr dirty="0"/>
              <a:t>: Ehlanzeni and Gert Sibande.</a:t>
            </a:r>
          </a:p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u="sng" dirty="0"/>
              <a:t>SECONDARY:</a:t>
            </a:r>
            <a:r>
              <a:rPr dirty="0"/>
              <a:t> District hospitals, community health </a:t>
            </a:r>
            <a:r>
              <a:rPr lang="en-ZA" dirty="0"/>
              <a:t>centres</a:t>
            </a:r>
            <a:r>
              <a:rPr dirty="0"/>
              <a:t> and mobile healthcare units.</a:t>
            </a:r>
          </a:p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u="sng" dirty="0"/>
              <a:t>EXPANSION</a:t>
            </a:r>
            <a:r>
              <a:rPr dirty="0"/>
              <a:t>: Rural healthcare facilities across South Africa.</a:t>
            </a:r>
          </a:p>
          <a:p>
            <a:pPr>
              <a:spcAft>
                <a:spcPts val="1400"/>
              </a:spcAft>
              <a:defRPr sz="2000">
                <a:solidFill>
                  <a:srgbClr val="DCE4EB"/>
                </a:solidFill>
              </a:defRPr>
            </a:pPr>
            <a:r>
              <a:rPr sz="2300" u="sng" dirty="0"/>
              <a:t>Need</a:t>
            </a:r>
            <a:r>
              <a:rPr sz="2300" dirty="0"/>
              <a:t>: affordable monitoring that remains useful when grid electricity is unreliable.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291A0"/>
                </a:solidFill>
              </a:defRPr>
            </a:pPr>
            <a:r>
              <a:t>SMART CLINIC VACCINE GUARDIAN  |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BB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A"/>
                </a:solidFill>
              </a:defRPr>
            </a:pPr>
            <a:r>
              <a:t>THE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400"/>
              </a:spcAft>
              <a:defRPr sz="2400">
                <a:solidFill>
                  <a:srgbClr val="DCE4EB"/>
                </a:solidFill>
              </a:defRPr>
            </a:pPr>
            <a:r>
              <a:t>FROM POWER OUTAGE</a:t>
            </a:r>
          </a:p>
          <a:p>
            <a:pPr algn="ctr">
              <a:spcAft>
                <a:spcPts val="1400"/>
              </a:spcAft>
              <a:defRPr sz="2400">
                <a:solidFill>
                  <a:srgbClr val="DCE4EB"/>
                </a:solidFill>
              </a:defRPr>
            </a:pPr>
            <a:r>
              <a:t>TO EARLY WARNING.</a:t>
            </a:r>
          </a:p>
          <a:p>
            <a:pPr algn="ctr">
              <a:spcAft>
                <a:spcPts val="1400"/>
              </a:spcAft>
              <a:defRPr sz="2400">
                <a:solidFill>
                  <a:srgbClr val="DCE4EB"/>
                </a:solidFill>
              </a:defRPr>
            </a:pPr>
            <a:endParaRPr/>
          </a:p>
          <a:p>
            <a:pPr algn="ctr">
              <a:spcAft>
                <a:spcPts val="1400"/>
              </a:spcAft>
              <a:defRPr sz="2400">
                <a:solidFill>
                  <a:srgbClr val="DCE4EB"/>
                </a:solidFill>
              </a:defRPr>
            </a:pPr>
            <a:r>
              <a:t>DETECT.  PREDICT.  ACT.  PROTECT.</a:t>
            </a:r>
          </a:p>
          <a:p>
            <a:pPr algn="ctr">
              <a:spcAft>
                <a:spcPts val="1400"/>
              </a:spcAft>
              <a:defRPr sz="2400">
                <a:solidFill>
                  <a:srgbClr val="DCE4EB"/>
                </a:solidFill>
              </a:defRPr>
            </a:pPr>
            <a:endParaRPr/>
          </a:p>
          <a:p>
            <a:pPr algn="ctr">
              <a:spcAft>
                <a:spcPts val="1400"/>
              </a:spcAft>
              <a:defRPr sz="2400">
                <a:solidFill>
                  <a:srgbClr val="DCE4EB"/>
                </a:solidFill>
              </a:defRPr>
            </a:pPr>
            <a:r>
              <a:t>Smart technology for safer rural healthcare.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46520"/>
            <a:ext cx="10789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291A0"/>
                </a:solidFill>
              </a:defRPr>
            </a:pPr>
            <a:r>
              <a:t>SMART CLINIC VACCINE GUARDIAN  | 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</TotalTime>
  <Words>346</Words>
  <Application>Microsoft Office PowerPoint</Application>
  <PresentationFormat>Widescreen</PresentationFormat>
  <Paragraphs>43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Hopewell Novela</dc:creator>
  <cp:keywords/>
  <dc:description>generated using python-pptx</dc:description>
  <cp:lastModifiedBy>Hopewell Novela</cp:lastModifiedBy>
  <cp:revision>1</cp:revision>
  <dcterms:created xsi:type="dcterms:W3CDTF">2013-01-27T09:14:16Z</dcterms:created>
  <dcterms:modified xsi:type="dcterms:W3CDTF">2026-09-18T07:58:53Z</dcterms:modified>
  <cp:category/>
</cp:coreProperties>
</file>